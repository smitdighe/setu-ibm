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62"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mitdighe/setu-ibm"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13566694"/>
              </p:ext>
            </p:extLst>
          </p:nvPr>
        </p:nvGraphicFramePr>
        <p:xfrm>
          <a:off x="1299255" y="3341806"/>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lnSpc>
                          <a:spcPct val="250000"/>
                        </a:lnSpc>
                        <a:spcBef>
                          <a:spcPts val="0"/>
                        </a:spcBef>
                        <a:spcAft>
                          <a:spcPts val="0"/>
                        </a:spcAft>
                        <a:buNone/>
                      </a:pPr>
                      <a:r>
                        <a:rPr lang="en-US" sz="2000" dirty="0"/>
                        <a:t>Smit Dighe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lnSpc>
                          <a:spcPct val="250000"/>
                        </a:lnSpc>
                        <a:spcBef>
                          <a:spcPts val="0"/>
                        </a:spcBef>
                        <a:spcAft>
                          <a:spcPts val="0"/>
                        </a:spcAft>
                        <a:buNone/>
                      </a:pPr>
                      <a:r>
                        <a:rPr lang="en-US" sz="1800" dirty="0"/>
                        <a:t>smitdighe@gmail.com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250000"/>
                        </a:lnSpc>
                        <a:spcBef>
                          <a:spcPts val="0"/>
                        </a:spcBef>
                        <a:spcAft>
                          <a:spcPts val="0"/>
                        </a:spcAft>
                        <a:buNone/>
                      </a:pPr>
                      <a:r>
                        <a:rPr lang="en-US" sz="2000" dirty="0"/>
                        <a:t>7863002486</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02321" y="2382287"/>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102321" y="1170371"/>
            <a:ext cx="9581177" cy="830997"/>
          </a:xfrm>
          <a:prstGeom prst="rect">
            <a:avLst/>
          </a:prstGeom>
          <a:noFill/>
        </p:spPr>
        <p:txBody>
          <a:bodyPr wrap="square" rtlCol="0">
            <a:spAutoFit/>
          </a:bodyPr>
          <a:lstStyle/>
          <a:p>
            <a:r>
              <a:rPr lang="en-US" sz="2400" b="1" dirty="0"/>
              <a:t>Project Tile – </a:t>
            </a:r>
            <a:r>
              <a:rPr lang="en-IN" sz="2400" dirty="0">
                <a:highlight>
                  <a:srgbClr val="FFFF00"/>
                </a:highlight>
              </a:rPr>
              <a:t>Setu — AI-Powered Personalized Learning &amp; Teacher Assistant Platform</a:t>
            </a:r>
            <a:endParaRPr lang="en-IN" sz="2400" b="1" dirty="0">
              <a:highlight>
                <a:srgbClr val="FFFF00"/>
              </a:highlight>
            </a:endParaRPr>
          </a:p>
        </p:txBody>
      </p:sp>
      <p:pic>
        <p:nvPicPr>
          <p:cNvPr id="5" name="Picture 4">
            <a:extLst>
              <a:ext uri="{FF2B5EF4-FFF2-40B4-BE49-F238E27FC236}">
                <a16:creationId xmlns:a16="http://schemas.microsoft.com/office/drawing/2014/main" id="{4B180FD5-56BF-C659-0723-4B780CBC2871}"/>
              </a:ext>
            </a:extLst>
          </p:cNvPr>
          <p:cNvPicPr>
            <a:picLocks noChangeAspect="1"/>
          </p:cNvPicPr>
          <p:nvPr/>
        </p:nvPicPr>
        <p:blipFill>
          <a:blip r:embed="rId3"/>
          <a:srcRect l="2464" t="235" r="2528" b="3333"/>
          <a:stretch>
            <a:fillRect/>
          </a:stretch>
        </p:blipFill>
        <p:spPr>
          <a:xfrm>
            <a:off x="4072466" y="4328768"/>
            <a:ext cx="905933" cy="11801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580305" y="712133"/>
            <a:ext cx="11031389" cy="523220"/>
          </a:xfrm>
          <a:prstGeom prst="rect">
            <a:avLst/>
          </a:prstGeom>
          <a:noFill/>
        </p:spPr>
        <p:txBody>
          <a:bodyPr wrap="square" rtlCol="0">
            <a:spAutoFit/>
          </a:bodyPr>
          <a:lstStyle/>
          <a:p>
            <a:r>
              <a:rPr lang="en-US" sz="2800" b="1" dirty="0"/>
              <a:t>Problem Statement -</a:t>
            </a:r>
            <a:endParaRPr lang="en-IN" sz="2800" b="1" dirty="0"/>
          </a:p>
        </p:txBody>
      </p:sp>
      <p:sp>
        <p:nvSpPr>
          <p:cNvPr id="7" name="TextBox 6">
            <a:extLst>
              <a:ext uri="{FF2B5EF4-FFF2-40B4-BE49-F238E27FC236}">
                <a16:creationId xmlns:a16="http://schemas.microsoft.com/office/drawing/2014/main" id="{0C439434-635F-3F3D-4791-284EE49F681A}"/>
              </a:ext>
            </a:extLst>
          </p:cNvPr>
          <p:cNvSpPr txBox="1"/>
          <p:nvPr/>
        </p:nvSpPr>
        <p:spPr>
          <a:xfrm>
            <a:off x="580305" y="1661821"/>
            <a:ext cx="10853927" cy="4401205"/>
          </a:xfrm>
          <a:prstGeom prst="rect">
            <a:avLst/>
          </a:prstGeom>
          <a:noFill/>
        </p:spPr>
        <p:txBody>
          <a:bodyPr wrap="square" rtlCol="0">
            <a:spAutoFit/>
          </a:bodyPr>
          <a:lstStyle/>
          <a:p>
            <a:r>
              <a:rPr lang="en-IN" sz="2000" b="1" dirty="0"/>
              <a:t>Problem Statement: AI-Powered Personalized Learning &amp; Teacher Assistant Platform</a:t>
            </a:r>
          </a:p>
          <a:p>
            <a:endParaRPr lang="en-IN" sz="2000" dirty="0"/>
          </a:p>
          <a:p>
            <a:r>
              <a:rPr lang="en-IN" sz="2000" b="1" dirty="0"/>
              <a:t>The Challenge </a:t>
            </a:r>
          </a:p>
          <a:p>
            <a:pPr algn="just"/>
            <a:r>
              <a:rPr lang="en-IN" sz="2000" dirty="0"/>
              <a:t>Many government and rural schools in Gujarat face diverse student learning levels, limited access to personalized learning resources, increasing administrative workload for teachers, and insufficient real-time insight into student progress. Teachers need AI-powered assistance to create engaging lesson plans, assess student performance, and support individual learners while reducing repetitive tasks.</a:t>
            </a:r>
          </a:p>
          <a:p>
            <a:pPr algn="just"/>
            <a:endParaRPr lang="en-IN" sz="2000" dirty="0"/>
          </a:p>
          <a:p>
            <a:r>
              <a:rPr lang="en-IN" sz="2000" b="1" dirty="0"/>
              <a:t>The Objective</a:t>
            </a:r>
          </a:p>
          <a:p>
            <a:pPr algn="just"/>
            <a:r>
              <a:rPr lang="en-IN" sz="2000" dirty="0"/>
              <a:t>Build an Agentic AI solution that personalizes student learning experiences, assists teachers in lesson planning and content generation, automates assessment and feedback, identifies students requiring additional support, and provides actionable insights to improve learning outcomes — while remaining accessible to Gujarat's government and rural school context.</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373042" y="824167"/>
            <a:ext cx="11489266" cy="5863144"/>
          </a:xfrm>
          <a:prstGeom prst="rect">
            <a:avLst/>
          </a:prstGeom>
          <a:noFill/>
        </p:spPr>
        <p:txBody>
          <a:bodyPr wrap="square" rtlCol="0">
            <a:spAutoFit/>
          </a:bodyPr>
          <a:lstStyle/>
          <a:p>
            <a:pPr algn="just"/>
            <a:r>
              <a:rPr lang="en-IN" sz="1500" b="1" dirty="0"/>
              <a:t>Proposed Solution: Setu — AI Personalized Learning &amp; Teacher Assistant Platform. </a:t>
            </a:r>
            <a:r>
              <a:rPr lang="en-IN" sz="1500" dirty="0"/>
              <a:t>Setu is a multi-agent AI platform built using </a:t>
            </a:r>
            <a:r>
              <a:rPr lang="en-IN" sz="1500" b="1" dirty="0"/>
              <a:t>IBM Bob, IBM Granite (via watsonx.ai), and IBM Cloud</a:t>
            </a:r>
            <a:r>
              <a:rPr lang="en-IN" sz="1500" dirty="0"/>
              <a:t> to deliver personalized, real-time learning support and teacher assistance. The system addresses challenges in student personalization, lesson planning, assessment, and progress tracking through an intelligent, modular architecture.</a:t>
            </a:r>
          </a:p>
          <a:p>
            <a:pPr algn="just"/>
            <a:endParaRPr lang="en-IN" sz="1500" dirty="0"/>
          </a:p>
          <a:p>
            <a:pPr algn="just"/>
            <a:r>
              <a:rPr lang="en-IN" sz="1500" dirty="0"/>
              <a:t>At its core, an </a:t>
            </a:r>
            <a:r>
              <a:rPr lang="en-IN" sz="1500" b="1" dirty="0"/>
              <a:t>Orchestrator</a:t>
            </a:r>
            <a:r>
              <a:rPr lang="en-IN" sz="1500" dirty="0"/>
              <a:t> routes requests to five specialized agents, each backed by IBM Granite for reasoning and content generation.</a:t>
            </a:r>
          </a:p>
          <a:p>
            <a:endParaRPr lang="en-IN" sz="1500" dirty="0"/>
          </a:p>
          <a:p>
            <a:r>
              <a:rPr lang="en-IN" sz="1500" dirty="0"/>
              <a:t>The system consists of five key agents:</a:t>
            </a:r>
            <a:br>
              <a:rPr lang="en-IN" sz="1500" dirty="0"/>
            </a:br>
            <a:r>
              <a:rPr lang="en-IN" sz="1500" dirty="0"/>
              <a:t>1. </a:t>
            </a:r>
            <a:r>
              <a:rPr lang="en-IN" sz="1500" b="1" dirty="0"/>
              <a:t>Personalized Learning Recommendation Agent</a:t>
            </a:r>
            <a:r>
              <a:rPr lang="en-IN" sz="1500" dirty="0"/>
              <a:t> suggests adaptive learning paths and resources based on each student's pace and skill level.</a:t>
            </a:r>
            <a:br>
              <a:rPr lang="en-IN" sz="1500" dirty="0"/>
            </a:br>
            <a:r>
              <a:rPr lang="en-IN" sz="1500" dirty="0"/>
              <a:t>2. </a:t>
            </a:r>
            <a:r>
              <a:rPr lang="en-IN" sz="1500" b="1" dirty="0"/>
              <a:t>AI Lesson Plan &amp; Content Generation Agent</a:t>
            </a:r>
            <a:r>
              <a:rPr lang="en-IN" sz="1500" dirty="0"/>
              <a:t> generates differentiated (remedial / on-track / advanced) lesson plans, curriculum-ready, in minutes.</a:t>
            </a:r>
            <a:br>
              <a:rPr lang="en-IN" sz="1500" dirty="0"/>
            </a:br>
            <a:r>
              <a:rPr lang="en-IN" sz="1500" dirty="0"/>
              <a:t>3. </a:t>
            </a:r>
            <a:r>
              <a:rPr lang="en-IN" sz="1500" b="1" dirty="0"/>
              <a:t>Student Performance &amp; Learning Analytics Agent</a:t>
            </a:r>
            <a:r>
              <a:rPr lang="en-IN" sz="1500" dirty="0"/>
              <a:t> tracks skill distribution and risk scores per student/class, flagging at-risk students in real time.</a:t>
            </a:r>
            <a:br>
              <a:rPr lang="en-IN" sz="1500" dirty="0"/>
            </a:br>
            <a:r>
              <a:rPr lang="en-IN" sz="1500" dirty="0"/>
              <a:t>4. </a:t>
            </a:r>
            <a:r>
              <a:rPr lang="en-IN" sz="1500" b="1" dirty="0"/>
              <a:t>Automated Assessment &amp; Feedback Agent</a:t>
            </a:r>
            <a:r>
              <a:rPr lang="en-IN" sz="1500" dirty="0"/>
              <a:t> generates assessments and reviews student responses with instant feedback.</a:t>
            </a:r>
            <a:br>
              <a:rPr lang="en-IN" sz="1500" dirty="0"/>
            </a:br>
            <a:r>
              <a:rPr lang="en-IN" sz="1500" dirty="0"/>
              <a:t>5. </a:t>
            </a:r>
            <a:r>
              <a:rPr lang="en-IN" sz="1500" b="1" dirty="0"/>
              <a:t>Teacher Assistant &amp; Classroom Support Agent</a:t>
            </a:r>
            <a:r>
              <a:rPr lang="en-IN" sz="1500" dirty="0"/>
              <a:t> answers teacher queries about their class instantly, conversationally.</a:t>
            </a:r>
          </a:p>
          <a:p>
            <a:endParaRPr lang="en-IN" sz="1500" dirty="0"/>
          </a:p>
          <a:p>
            <a:pPr algn="just"/>
            <a:r>
              <a:rPr lang="en-IN" sz="1500" dirty="0"/>
              <a:t>The solution includes a </a:t>
            </a:r>
            <a:r>
              <a:rPr lang="en-IN" sz="1500" b="1" dirty="0"/>
              <a:t>Teacher Dashboard </a:t>
            </a:r>
            <a:r>
              <a:rPr lang="en-IN" sz="1500" dirty="0"/>
              <a:t>(built with Next.js) that visualize class-wide analytics, at-risk students, and individual progress — with full </a:t>
            </a:r>
            <a:r>
              <a:rPr lang="en-IN" sz="1500" b="1" dirty="0"/>
              <a:t>English/Gujarati language support</a:t>
            </a:r>
            <a:r>
              <a:rPr lang="en-IN" sz="1500" dirty="0"/>
              <a:t> for accessibility in rural and government school settings. IBM Bob orchestrates agent development, watsonx.ai ensures scalable model deployment and governance, and Granite models power reasoning, content generation, and personalization.</a:t>
            </a:r>
          </a:p>
          <a:p>
            <a:pPr algn="just"/>
            <a:endParaRPr lang="en-IN" sz="1500" dirty="0"/>
          </a:p>
          <a:p>
            <a:pPr algn="just"/>
            <a:r>
              <a:rPr lang="en-IN" sz="1500" dirty="0"/>
              <a:t>Overall, this solution delivers an end-to-end intelligent teaching companion that reduces teacher workload and improves learning outcomes through personalization, automation, and real-time insight.</a:t>
            </a:r>
          </a:p>
        </p:txBody>
      </p:sp>
      <p:sp>
        <p:nvSpPr>
          <p:cNvPr id="3" name="TextBox 2">
            <a:extLst>
              <a:ext uri="{FF2B5EF4-FFF2-40B4-BE49-F238E27FC236}">
                <a16:creationId xmlns:a16="http://schemas.microsoft.com/office/drawing/2014/main" id="{527F30CC-07EF-8FCC-DA00-C9212F5DAECE}"/>
              </a:ext>
            </a:extLst>
          </p:cNvPr>
          <p:cNvSpPr txBox="1"/>
          <p:nvPr/>
        </p:nvSpPr>
        <p:spPr>
          <a:xfrm>
            <a:off x="364067" y="170689"/>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16758"/>
          </a:xfrm>
          <a:prstGeom prst="rect">
            <a:avLst/>
          </a:prstGeom>
          <a:noFill/>
        </p:spPr>
        <p:txBody>
          <a:bodyPr wrap="square" lIns="91440" tIns="45720" rIns="91440" bIns="45720" rtlCol="0" anchor="t">
            <a:spAutoFit/>
          </a:bodyPr>
          <a:lstStyle/>
          <a:p>
            <a:pPr marL="285750" lvl="0" indent="-285750" algn="just">
              <a:buFont typeface="Arial" panose="020B0604020202020204" pitchFamily="34" charset="0"/>
              <a:buChar char="•"/>
            </a:pPr>
            <a:r>
              <a:rPr lang="en-IN" sz="2000" b="1" dirty="0"/>
              <a:t>IBM Bob</a:t>
            </a:r>
            <a:r>
              <a:rPr lang="en-IN" sz="2000" dirty="0"/>
              <a:t> — compulsory dev-assistant tool used to build and orchestrate the multi-agent architecture.</a:t>
            </a:r>
          </a:p>
          <a:p>
            <a:pPr marL="285750" lvl="0" indent="-285750" algn="just">
              <a:buFont typeface="Arial" panose="020B0604020202020204" pitchFamily="34" charset="0"/>
              <a:buChar char="•"/>
            </a:pPr>
            <a:r>
              <a:rPr lang="en-IN" sz="2000" b="1" dirty="0"/>
              <a:t>IBM Granite model</a:t>
            </a:r>
            <a:r>
              <a:rPr lang="en-IN" sz="2000" dirty="0"/>
              <a:t> (via watsonx.ai) — for natural language understanding, reasoning, content generation, and personalization across all five agents.</a:t>
            </a:r>
          </a:p>
          <a:p>
            <a:pPr marL="285750" lvl="0" indent="-285750" algn="just">
              <a:buFont typeface="Arial" panose="020B0604020202020204" pitchFamily="34" charset="0"/>
              <a:buChar char="•"/>
            </a:pPr>
            <a:r>
              <a:rPr lang="en-IN" sz="2000" b="1" dirty="0"/>
              <a:t>IBM Cloud</a:t>
            </a:r>
            <a:r>
              <a:rPr lang="en-IN" sz="2000" dirty="0"/>
              <a:t> — provides the infrastructure to build, deploy, and scale Setu efficiently; includes watsonx.ai Runtime/Studio, </a:t>
            </a:r>
            <a:r>
              <a:rPr lang="en-IN" sz="2000" dirty="0" err="1"/>
              <a:t>Cloudant</a:t>
            </a:r>
            <a:r>
              <a:rPr lang="en-IN" sz="2000" dirty="0"/>
              <a:t>, and Cloud Object Storage for a reliable, secure, scalable environment.</a:t>
            </a:r>
          </a:p>
          <a:p>
            <a:pPr marL="285750" lvl="0" indent="-285750" algn="just">
              <a:buFont typeface="Arial" panose="020B0604020202020204" pitchFamily="34" charset="0"/>
              <a:buChar char="•"/>
            </a:pPr>
            <a:r>
              <a:rPr lang="en-IN" sz="2000" b="1" dirty="0"/>
              <a:t>IBM </a:t>
            </a:r>
            <a:r>
              <a:rPr lang="en-IN" sz="2000" b="1" dirty="0" err="1"/>
              <a:t>Cloudant</a:t>
            </a:r>
            <a:r>
              <a:rPr lang="en-IN" sz="2000" dirty="0"/>
              <a:t> — NoSQL database storing student/teacher/class data, lesson plans, assessments, and analytics.</a:t>
            </a:r>
          </a:p>
          <a:p>
            <a:pPr marL="285750" lvl="0" indent="-285750" algn="just">
              <a:buFont typeface="Arial" panose="020B0604020202020204" pitchFamily="34" charset="0"/>
              <a:buChar char="•"/>
            </a:pPr>
            <a:r>
              <a:rPr lang="en-IN" sz="2000" b="1" dirty="0"/>
              <a:t>IBM Cloud Object Storage (COS)</a:t>
            </a:r>
            <a:r>
              <a:rPr lang="en-IN" sz="2000" dirty="0"/>
              <a:t> — caches generated lesson plan content and printable materials.</a:t>
            </a:r>
          </a:p>
          <a:p>
            <a:pPr marL="285750" lvl="0" indent="-285750" algn="just">
              <a:buFont typeface="Arial" panose="020B0604020202020204" pitchFamily="34" charset="0"/>
              <a:buChar char="•"/>
            </a:pPr>
            <a:r>
              <a:rPr lang="en-IN" sz="2000" b="1" dirty="0"/>
              <a:t>IBM watsonx.ai</a:t>
            </a:r>
            <a:r>
              <a:rPr lang="en-IN" sz="2000" dirty="0"/>
              <a:t> — for Granite model deployment, prompt orchestration, and AI governance.</a:t>
            </a:r>
          </a:p>
          <a:p>
            <a:pPr marL="285750" lvl="0" indent="-285750" algn="just">
              <a:buFont typeface="Arial" panose="020B0604020202020204" pitchFamily="34" charset="0"/>
              <a:buChar char="•"/>
            </a:pPr>
            <a:r>
              <a:rPr lang="en-IN" sz="2000" b="1" dirty="0"/>
              <a:t>Next.js (TypeScript)</a:t>
            </a:r>
            <a:r>
              <a:rPr lang="en-IN" sz="2000" dirty="0"/>
              <a:t> — full-stack framework powering the Teacher and Student dashboards, API routes, and orchestrator logic.</a:t>
            </a:r>
          </a:p>
          <a:p>
            <a:pPr marL="285750" lvl="0" indent="-285750" algn="just">
              <a:buFont typeface="Arial" panose="020B0604020202020204" pitchFamily="34" charset="0"/>
              <a:buChar char="•"/>
            </a:pPr>
            <a:r>
              <a:rPr lang="en-IN" sz="2000" b="1" dirty="0" err="1"/>
              <a:t>NextAuth</a:t>
            </a:r>
            <a:r>
              <a:rPr lang="en-IN" sz="2000" dirty="0"/>
              <a:t> — role-based authentication for Teacher/Student/Admin access.</a:t>
            </a:r>
            <a:endParaRPr lang="en-IN" sz="2000" dirty="0">
              <a:effectLst/>
            </a:endParaRP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3141534" y="238572"/>
            <a:ext cx="5908929" cy="448508"/>
          </a:xfrm>
          <a:prstGeom prst="rect">
            <a:avLst/>
          </a:prstGeom>
          <a:noFill/>
          <a:ln>
            <a:noFill/>
          </a:ln>
        </p:spPr>
        <p:txBody>
          <a:bodyPr spcFirstLastPara="1" wrap="square" lIns="0" tIns="0" rIns="0" bIns="0" anchor="t" anchorCtr="0">
            <a:noAutofit/>
          </a:bodyPr>
          <a:lstStyle/>
          <a:p>
            <a:pPr lvl="0" algn="ctr"/>
            <a:r>
              <a:rPr lang="en-US" sz="2800" b="1" dirty="0">
                <a:solidFill>
                  <a:schemeClr val="dk1"/>
                </a:solidFill>
                <a:latin typeface="Calibri"/>
                <a:ea typeface="Calibri"/>
                <a:cs typeface="Calibri"/>
                <a:sym typeface="Calibri"/>
              </a:rPr>
              <a:t>Architecture blueprint</a:t>
            </a:r>
            <a:endParaRPr lang="en-US" sz="2800" dirty="0"/>
          </a:p>
        </p:txBody>
      </p:sp>
      <p:pic>
        <p:nvPicPr>
          <p:cNvPr id="7" name="Picture 6">
            <a:extLst>
              <a:ext uri="{FF2B5EF4-FFF2-40B4-BE49-F238E27FC236}">
                <a16:creationId xmlns:a16="http://schemas.microsoft.com/office/drawing/2014/main" id="{0087CE57-C499-2497-0C6B-22F71BECDA76}"/>
              </a:ext>
            </a:extLst>
          </p:cNvPr>
          <p:cNvPicPr>
            <a:picLocks noChangeAspect="1"/>
          </p:cNvPicPr>
          <p:nvPr/>
        </p:nvPicPr>
        <p:blipFill>
          <a:blip r:embed="rId3"/>
          <a:srcRect l="4218" t="6488" r="4053" b="7005"/>
          <a:stretch>
            <a:fillRect/>
          </a:stretch>
        </p:blipFill>
        <p:spPr>
          <a:xfrm>
            <a:off x="1689099" y="897467"/>
            <a:ext cx="8813801" cy="5867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930785" y="1504521"/>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382354" y="291930"/>
            <a:ext cx="9317736" cy="584775"/>
          </a:xfrm>
          <a:prstGeom prst="rect">
            <a:avLst/>
          </a:prstGeom>
          <a:noFill/>
        </p:spPr>
        <p:txBody>
          <a:bodyPr wrap="square" rtlCol="0">
            <a:spAutoFit/>
          </a:bodyPr>
          <a:lstStyle/>
          <a:p>
            <a:r>
              <a:rPr lang="en-US" sz="3200" b="1" dirty="0"/>
              <a:t>Role of Agentic AI in Setu</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382354" y="1088372"/>
            <a:ext cx="8177445" cy="5355312"/>
          </a:xfrm>
          <a:prstGeom prst="rect">
            <a:avLst/>
          </a:prstGeom>
          <a:noFill/>
        </p:spPr>
        <p:txBody>
          <a:bodyPr wrap="square" rtlCol="0">
            <a:spAutoFit/>
          </a:bodyPr>
          <a:lstStyle/>
          <a:p>
            <a:pPr algn="just"/>
            <a:r>
              <a:rPr lang="en-IN" sz="1800" dirty="0"/>
              <a:t>Agentic AI lets Setu function as an intelligent, autonomous system rather than a simple chatbot. Using </a:t>
            </a:r>
            <a:r>
              <a:rPr lang="en-IN" sz="1800" b="1" dirty="0"/>
              <a:t>IBM watsonx.ai</a:t>
            </a:r>
            <a:r>
              <a:rPr lang="en-IN" sz="1800" dirty="0"/>
              <a:t> and </a:t>
            </a:r>
            <a:r>
              <a:rPr lang="en-IN" sz="1800" b="1" dirty="0"/>
              <a:t>IBM Granite models</a:t>
            </a:r>
            <a:r>
              <a:rPr lang="en-IN" sz="1800" dirty="0"/>
              <a:t>, it coordinates five specialized agents — Recommendation, Lesson Plan, Analytics, Assessment, and Teacher Assistant — through a shared orchestrator.</a:t>
            </a:r>
          </a:p>
          <a:p>
            <a:pPr algn="just"/>
            <a:endParaRPr lang="en-IN" sz="1800" dirty="0"/>
          </a:p>
          <a:p>
            <a:pPr algn="just"/>
            <a:r>
              <a:rPr lang="en-IN" sz="1800" dirty="0"/>
              <a:t>Each agent handles a specific task: recommending learning paths, generating differentiated lesson plans, tracking student risk and skill levels, creating/reviewing assessments, and answering teacher queries. This </a:t>
            </a:r>
            <a:r>
              <a:rPr lang="en-IN" sz="1800" b="1" dirty="0"/>
              <a:t>multi-agent approach</a:t>
            </a:r>
            <a:r>
              <a:rPr lang="en-IN" sz="1800" dirty="0"/>
              <a:t> delivers efficient, accurate, and targeted results.</a:t>
            </a:r>
          </a:p>
          <a:p>
            <a:pPr algn="just"/>
            <a:endParaRPr lang="en-IN" sz="1800" dirty="0"/>
          </a:p>
          <a:p>
            <a:pPr algn="just"/>
            <a:r>
              <a:rPr lang="en-IN" sz="1800" dirty="0"/>
              <a:t>Agentic AI brings </a:t>
            </a:r>
            <a:r>
              <a:rPr lang="en-IN" sz="1800" b="1" dirty="0"/>
              <a:t>context awareness</a:t>
            </a:r>
            <a:r>
              <a:rPr lang="en-IN" sz="1800" dirty="0"/>
              <a:t> (skill level, pace, risk score per student) and </a:t>
            </a:r>
            <a:r>
              <a:rPr lang="en-IN" sz="1800" b="1" dirty="0"/>
              <a:t>real-time adaptation</a:t>
            </a:r>
            <a:r>
              <a:rPr lang="en-IN" sz="1800" dirty="0"/>
              <a:t>, continuously updating recommendations as new data comes in. Agents share context through the orchestrator, enabling coordinated decisions across the platform.</a:t>
            </a:r>
          </a:p>
          <a:p>
            <a:pPr algn="just"/>
            <a:endParaRPr lang="en-IN" sz="1800" dirty="0"/>
          </a:p>
          <a:p>
            <a:pPr algn="just"/>
            <a:r>
              <a:rPr lang="en-IN" sz="1800" dirty="0"/>
              <a:t>Overall, Agentic AI makes Setu proactive and personalized — acting as a </a:t>
            </a:r>
            <a:r>
              <a:rPr lang="en-IN" sz="1800" b="1" dirty="0"/>
              <a:t>dedicated AI teaching assistant</a:t>
            </a:r>
            <a:r>
              <a:rPr lang="en-IN" sz="1800" dirty="0"/>
              <a:t> for every classroom and </a:t>
            </a:r>
            <a:r>
              <a:rPr lang="en-IN" sz="1800" b="1" dirty="0"/>
              <a:t>personal learning guide</a:t>
            </a:r>
            <a:r>
              <a:rPr lang="en-IN" sz="1800" dirty="0"/>
              <a:t> for every student.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65421" y="302603"/>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65421" y="1029207"/>
            <a:ext cx="11461157" cy="5632311"/>
          </a:xfrm>
          <a:prstGeom prst="rect">
            <a:avLst/>
          </a:prstGeom>
          <a:noFill/>
        </p:spPr>
        <p:txBody>
          <a:bodyPr wrap="square" rtlCol="0">
            <a:spAutoFit/>
          </a:bodyPr>
          <a:lstStyle/>
          <a:p>
            <a:pPr algn="just"/>
            <a:r>
              <a:rPr lang="en-IN" sz="1800" dirty="0"/>
              <a:t>Setu stands out by combining </a:t>
            </a:r>
            <a:r>
              <a:rPr lang="en-IN" sz="1800" b="1" dirty="0"/>
              <a:t>multi-agent AI, real-time analytics, and bilingual accessibility</a:t>
            </a:r>
            <a:r>
              <a:rPr lang="en-IN" sz="1800" dirty="0"/>
              <a:t> into a single intelligent platform for education.</a:t>
            </a:r>
          </a:p>
          <a:p>
            <a:pPr algn="just"/>
            <a:endParaRPr lang="en-IN" sz="1800" dirty="0"/>
          </a:p>
          <a:p>
            <a:pPr marL="285750" indent="-285750" algn="just">
              <a:buFont typeface="Arial" panose="020B0604020202020204" pitchFamily="34" charset="0"/>
              <a:buChar char="•"/>
            </a:pPr>
            <a:r>
              <a:rPr lang="en-IN" sz="1800" b="1" dirty="0"/>
              <a:t>Multi-Agent Intelligence</a:t>
            </a:r>
            <a:r>
              <a:rPr lang="en-IN" sz="1800" dirty="0"/>
              <a:t> — Instead of a single chatbot, five specialized agents collaborate to deliver personalized learning, lesson planning, and assessment support.</a:t>
            </a:r>
          </a:p>
          <a:p>
            <a:pPr marL="285750" indent="-285750" algn="just">
              <a:buFont typeface="Arial" panose="020B0604020202020204" pitchFamily="34" charset="0"/>
              <a:buChar char="•"/>
            </a:pPr>
            <a:r>
              <a:rPr lang="en-IN" sz="1800" b="1" dirty="0"/>
              <a:t>Differentiated Content Generation</a:t>
            </a:r>
            <a:r>
              <a:rPr lang="en-IN" sz="1800" dirty="0"/>
              <a:t> — Automatically generates three levels (remedial / on-track / advanced) of lesson content per topic, tailored to each student's actual skill level.</a:t>
            </a:r>
          </a:p>
          <a:p>
            <a:pPr marL="285750" indent="-285750" algn="just">
              <a:buFont typeface="Arial" panose="020B0604020202020204" pitchFamily="34" charset="0"/>
              <a:buChar char="•"/>
            </a:pPr>
            <a:r>
              <a:rPr lang="en-IN" sz="1800" b="1" dirty="0"/>
              <a:t>Real-Time Risk Detection</a:t>
            </a:r>
            <a:r>
              <a:rPr lang="en-IN" sz="1800" dirty="0"/>
              <a:t> — Continuously tracks student performance and pace to flag at-risk students early, before they fall further behind.</a:t>
            </a:r>
          </a:p>
          <a:p>
            <a:pPr marL="285750" indent="-285750" algn="just">
              <a:buFont typeface="Arial" panose="020B0604020202020204" pitchFamily="34" charset="0"/>
              <a:buChar char="•"/>
            </a:pPr>
            <a:r>
              <a:rPr lang="en-IN" sz="1800" b="1" dirty="0"/>
              <a:t>Bilingual by Design</a:t>
            </a:r>
            <a:r>
              <a:rPr lang="en-IN" sz="1800" dirty="0"/>
              <a:t> — Full English/Gujarati support across the entire platform, built for Gujarat's government and rural school context — not an afterthought.</a:t>
            </a:r>
          </a:p>
          <a:p>
            <a:pPr marL="285750" indent="-285750" algn="just">
              <a:buFont typeface="Arial" panose="020B0604020202020204" pitchFamily="34" charset="0"/>
              <a:buChar char="•"/>
            </a:pPr>
            <a:r>
              <a:rPr lang="en-IN" sz="1800" b="1" dirty="0"/>
              <a:t>Teacher-in-the-Loop Workflow</a:t>
            </a:r>
            <a:r>
              <a:rPr lang="en-IN" sz="1800" dirty="0"/>
              <a:t> — Generated assessments and feedback go through teacher review/approval before reaching students, keeping educators in control.</a:t>
            </a:r>
          </a:p>
          <a:p>
            <a:pPr marL="285750" indent="-285750" algn="just">
              <a:buFont typeface="Arial" panose="020B0604020202020204" pitchFamily="34" charset="0"/>
              <a:buChar char="•"/>
            </a:pPr>
            <a:r>
              <a:rPr lang="en-IN" sz="1800" b="1" dirty="0"/>
              <a:t>Conversational Classroom Support</a:t>
            </a:r>
            <a:r>
              <a:rPr lang="en-IN" sz="1800" dirty="0"/>
              <a:t> — Teacher Assistant agent answers class-specific queries instantly, reducing administrative overhead.</a:t>
            </a:r>
          </a:p>
          <a:p>
            <a:pPr marL="285750" indent="-285750" algn="just">
              <a:buFont typeface="Arial" panose="020B0604020202020204" pitchFamily="34" charset="0"/>
              <a:buChar char="•"/>
            </a:pPr>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IBM </a:t>
            </a:r>
            <a:r>
              <a:rPr lang="en-IN" sz="1800" dirty="0" err="1"/>
              <a:t>Cloudant</a:t>
            </a:r>
            <a:r>
              <a:rPr lang="en-IN" sz="1800" dirty="0"/>
              <a:t>, and Cloud Object Storage for reliability and governance.</a:t>
            </a:r>
          </a:p>
          <a:p>
            <a:pPr algn="just"/>
            <a:endParaRPr lang="en-IN" sz="1800" dirty="0"/>
          </a:p>
          <a:p>
            <a:pPr algn="just"/>
            <a:r>
              <a:rPr lang="en-IN" sz="1800" dirty="0"/>
              <a:t>This makes Setu a </a:t>
            </a:r>
            <a:r>
              <a:rPr lang="en-IN" sz="1800" b="1" dirty="0"/>
              <a:t>proactive, adaptive teaching companion</a:t>
            </a:r>
            <a:r>
              <a:rPr lang="en-IN" sz="1800" dirty="0"/>
              <a:t> — not just a content generator, but a system that closes the loop between personalization, generation, and real classroom outcomes.</a:t>
            </a:r>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841261" y="2992325"/>
            <a:ext cx="8877538"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800" b="1" dirty="0">
                <a:sym typeface="Times New Roman"/>
              </a:rPr>
              <a:t>Git Hub Link: </a:t>
            </a:r>
            <a:r>
              <a:rPr lang="en-US" sz="2800" b="1" dirty="0">
                <a:sym typeface="Times New Roman"/>
                <a:hlinkClick r:id="rId3"/>
              </a:rPr>
              <a:t>https://github.com/smitdighe/setu-ibm</a:t>
            </a:r>
            <a:endParaRPr sz="2800" dirty="0">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34024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94028" y="1357182"/>
            <a:ext cx="10803943" cy="5356885"/>
          </a:xfrm>
          <a:prstGeom prst="rect">
            <a:avLst/>
          </a:prstGeom>
          <a:noFill/>
          <a:ln>
            <a:noFill/>
          </a:ln>
        </p:spPr>
        <p:txBody>
          <a:bodyPr spcFirstLastPara="1" wrap="square" lIns="0" tIns="0" rIns="0" bIns="0" anchor="t" anchorCtr="0">
            <a:noAutofit/>
          </a:bodyPr>
          <a:lstStyle/>
          <a:p>
            <a:pPr marL="457200" indent="-457200">
              <a:lnSpc>
                <a:spcPct val="150000"/>
              </a:lnSpc>
              <a:buAutoNum type="arabicPeriod"/>
            </a:pPr>
            <a:r>
              <a:rPr lang="en-IN" sz="1900" b="1" dirty="0"/>
              <a:t>Attendance &amp; </a:t>
            </a:r>
            <a:r>
              <a:rPr lang="en-IN" sz="1900" b="1" dirty="0" err="1"/>
              <a:t>Behavioral</a:t>
            </a:r>
            <a:r>
              <a:rPr lang="en-IN" sz="1900" b="1" dirty="0"/>
              <a:t> Data Integration —</a:t>
            </a:r>
            <a:r>
              <a:rPr lang="en-IN" sz="1900" dirty="0"/>
              <a:t> Setu can integrate with attendance systems to correlate attendance patterns with academic risk, giving teachers an earlier and more complete picture of which students need support before performance data alone would reveal it</a:t>
            </a:r>
          </a:p>
          <a:p>
            <a:pPr marL="457200" indent="-457200">
              <a:lnSpc>
                <a:spcPct val="150000"/>
              </a:lnSpc>
              <a:buAutoNum type="arabicPeriod"/>
            </a:pPr>
            <a:r>
              <a:rPr lang="en-IN" sz="1900" b="1" dirty="0"/>
              <a:t>Voice Input &amp; Expanded Multilingual Support —</a:t>
            </a:r>
            <a:r>
              <a:rPr lang="en-IN" sz="1900" dirty="0"/>
              <a:t> Adding voice-based interaction for the Teacher Assistant and student dashboard would improve accessibility for low-literacy or low-typing-speed users, especially in rural classrooms. Expanding beyond English/Gujarati to other regional languages would further widen access across diverse school populations.</a:t>
            </a:r>
          </a:p>
          <a:p>
            <a:pPr marL="457200" indent="-457200">
              <a:lnSpc>
                <a:spcPct val="150000"/>
              </a:lnSpc>
              <a:buAutoNum type="arabicPeriod"/>
            </a:pPr>
            <a:r>
              <a:rPr lang="en-IN" sz="1900" b="1" dirty="0"/>
              <a:t>Parent &amp; Admin Dashboards —</a:t>
            </a:r>
            <a:r>
              <a:rPr lang="en-IN" sz="1900" dirty="0"/>
              <a:t> Read-only parent/guardian views (student progress, risk score) and school-wide admin analytics rollups (across classes and teachers) would close the loop between classroom, home, and school administration — turning individual insights into institution-wide visibility.</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047998" y="249713"/>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t>Certificates Earned:</a:t>
            </a:r>
          </a:p>
        </p:txBody>
      </p:sp>
      <p:pic>
        <p:nvPicPr>
          <p:cNvPr id="5" name="Picture 4">
            <a:extLst>
              <a:ext uri="{FF2B5EF4-FFF2-40B4-BE49-F238E27FC236}">
                <a16:creationId xmlns:a16="http://schemas.microsoft.com/office/drawing/2014/main" id="{007CBF0A-068C-B61F-F4B5-E9632F553D9A}"/>
              </a:ext>
            </a:extLst>
          </p:cNvPr>
          <p:cNvPicPr>
            <a:picLocks noChangeAspect="1"/>
          </p:cNvPicPr>
          <p:nvPr/>
        </p:nvPicPr>
        <p:blipFill>
          <a:blip r:embed="rId2"/>
          <a:srcRect t="988"/>
          <a:stretch>
            <a:fillRect/>
          </a:stretch>
        </p:blipFill>
        <p:spPr>
          <a:xfrm>
            <a:off x="2204519" y="922867"/>
            <a:ext cx="7782959" cy="579966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3064381" y="184058"/>
            <a:ext cx="606323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p:txBody>
      </p:sp>
      <p:pic>
        <p:nvPicPr>
          <p:cNvPr id="3" name="Picture 2">
            <a:extLst>
              <a:ext uri="{FF2B5EF4-FFF2-40B4-BE49-F238E27FC236}">
                <a16:creationId xmlns:a16="http://schemas.microsoft.com/office/drawing/2014/main" id="{E9AEFD7B-6071-F537-2076-58E6DB6C563E}"/>
              </a:ext>
            </a:extLst>
          </p:cNvPr>
          <p:cNvPicPr>
            <a:picLocks noChangeAspect="1"/>
          </p:cNvPicPr>
          <p:nvPr/>
        </p:nvPicPr>
        <p:blipFill>
          <a:blip r:embed="rId2"/>
          <a:stretch>
            <a:fillRect/>
          </a:stretch>
        </p:blipFill>
        <p:spPr>
          <a:xfrm>
            <a:off x="1333822" y="846667"/>
            <a:ext cx="9524356" cy="588654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extBox 1">
            <a:extLst>
              <a:ext uri="{FF2B5EF4-FFF2-40B4-BE49-F238E27FC236}">
                <a16:creationId xmlns:a16="http://schemas.microsoft.com/office/drawing/2014/main" id="{A3B741DD-3D6F-14B3-1838-D795A8D52C46}"/>
              </a:ext>
            </a:extLst>
          </p:cNvPr>
          <p:cNvSpPr txBox="1"/>
          <p:nvPr/>
        </p:nvSpPr>
        <p:spPr>
          <a:xfrm>
            <a:off x="3494088" y="2640280"/>
            <a:ext cx="5203824" cy="1323439"/>
          </a:xfrm>
          <a:prstGeom prst="rect">
            <a:avLst/>
          </a:prstGeom>
          <a:noFill/>
        </p:spPr>
        <p:txBody>
          <a:bodyPr wrap="square" rtlCol="0">
            <a:spAutoFit/>
          </a:bodyPr>
          <a:lstStyle/>
          <a:p>
            <a:r>
              <a:rPr lang="en-US" sz="8000" dirty="0"/>
              <a:t>Thank You</a:t>
            </a:r>
            <a:endParaRPr lang="en-IN" sz="80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1232</Words>
  <Application>Microsoft Office PowerPoint</Application>
  <PresentationFormat>Widescreen</PresentationFormat>
  <Paragraphs>71</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Smit Dighe</cp:lastModifiedBy>
  <cp:revision>17</cp:revision>
  <dcterms:created xsi:type="dcterms:W3CDTF">2025-07-08T05:06:56Z</dcterms:created>
  <dcterms:modified xsi:type="dcterms:W3CDTF">2026-08-21T12:35:26Z</dcterms:modified>
</cp:coreProperties>
</file>